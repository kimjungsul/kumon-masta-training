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01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마.스.타 활성화 교사 교육안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FDBFF"/>
                </a:solidFill>
              </a:rPr>
              <a:t>기간: 2026년 4월 ~ 6월 (3개월)
목표: 신규 47명 확보 / 이탈률 50% 감소
대상: 전체 교사 11명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현황 분석 — 핵심 수치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</a:rPr>
              <a:t>• 전체 관리회원  483명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64208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</a:rPr>
              <a:t>• 마.스.타 회원  64명 (13.3%)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39696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</a:rPr>
              <a:t>• 스마트 구몬 회원  231명 (47.8%)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15184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</a:rPr>
              <a:t>• 미가입 대상  약 188명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90672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</a:rPr>
              <a:t>• 월 신규  약 10명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</a:rPr>
              <a:t>• 월 이탈  약 13명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24528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※ 월 신규(10명) &lt; 월 이탈(13명) → 순감 진행 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교사 분류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56DB"/>
                </a:solidFill>
              </a:rPr>
              <a:t>▶ 우수 교사 (벤치마크 대상)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   · 김주연 — 점유율 27.5% (전체 1위), 권유 노하우 공유 대상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   · 김은숙 — 마스타 14명 최다 보유, 대규모 관리 역량 우수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24912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56DB"/>
                </a:solidFill>
              </a:rPr>
              <a:t>▶ 집중 육성 대상 (대상 풀 多, 점유율 低)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   · 이경옥 47명 중 3명(6.4%) / 원희선 50명 중 2명(4.0%)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39312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   · 박양희 50명 중 2명(4.0%) / 최승희 68명 중 7명(10.3%)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78224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   · 이경이 35명 중 1명(2.9%) ← 전환 가능성 최고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00016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56DB"/>
                </a:solidFill>
              </a:rPr>
              <a:t>▶ 소규모 교사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75504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   · 신인숙(16명) / 이주아(19명) / 김태연(18명) → 현실적 목표 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이탈 3대 사유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</a:rPr>
              <a:t>• 1.  월 4만원 추가 비용 대비 가치를 못 느낌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64208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</a:rPr>
              <a:t>• 2.  추가 학습량 부담으로 포기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39696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</a:rPr>
              <a:t>• 3.  교사와 시간 조율 어려움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교육 구성 (총 3회차)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455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회차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주제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일정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1회차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가치 전달 화법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4월 첫째 주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2회차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이탈 방어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4월 셋째 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3회차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목표 관리 &amp; 실전 점검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5월 첫째 주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1회차 — 비용 저항 극복 화법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455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/>
                <a:gridCol w="5637276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학부모 반응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전환 화법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"4만원이 부담돼요"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주 1회 기준 회당 1만원, 학원 보충수업보다 낮으면서 1:1 맞춤 지도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"교재만 더 푸는 거 아닌가요?"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OO의 약한 부분만 집중 보강하는 구조, 진단 결과 기반 설명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"효과를 모르겠어요"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3개월 전 시작한 OO 회원 진단평가 점수 데이터로 제시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1회차 — 권유 황금 타이밍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</a:rPr>
              <a:t>• 진단평가 후 결과 공유 시  →  마.스.타 효과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64208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</a:rPr>
              <a:t>• 학부모 상담 중 학습 고민 언급 시  →  해결책으로 자연스럽게 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39696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</a:rPr>
              <a:t>• 스마트 구몬 데이터 리뷰 시  →  약점 영역 기반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98064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※ 실습: 교사 2인 1조 롤플레이 (3가지 거절 상황 대응 연습)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2회차 — 이탈 신호별 교사 조치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455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/>
                <a:gridCol w="5637276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이탈 신호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교사 조치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숙제 미완료 2회 연속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분량 30% 축소 → 성공 경험 후 복원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"어려워요" 반복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1단계 하향, 기초 보강 후 복귀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"그만둘까 해요"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48시간 내 전화 상담, 조정 옵션 제시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3035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※ 목표: 월 이탈 13명 → 6명 이하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2회차 — 시간 조율 개선안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</a:rPr>
              <a:t>• 개선안 1  주 중 2개 타임슬롯 제공 (회원 선택)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64208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</a:rPr>
              <a:t>• 개선안 2  비대면 보충 지도 병행 (스마트 구몬 연계)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39696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</a:rPr>
              <a:t>• 개선안 3  교사 간 회원 시간대 교환 조율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3회차 — 교사별 목표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4552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교사명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잔여 대상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2분기 목표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김은숙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89명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6~7명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최승희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61명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4~5명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원희선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48명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3~4명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박양희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48명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3~4명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이경옥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44명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3명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김주연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37명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이경이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34명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이현주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27명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3명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이주아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18명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신인숙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13명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김태연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17명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합계</a:t>
                      </a:r>
                    </a:p>
                  </a:txBody>
                  <a:tcPr>
                    <a:solidFill>
                      <a:srgbClr val="FFED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436명</a:t>
                      </a:r>
                    </a:p>
                  </a:txBody>
                  <a:tcPr>
                    <a:solidFill>
                      <a:srgbClr val="FFED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47명</a:t>
                      </a:r>
                    </a:p>
                  </a:txBody>
                  <a:tcPr>
                    <a:solidFill>
                      <a:srgbClr val="FFED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3회차 — KPI &amp; 보고 체계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56DB"/>
                </a:solidFill>
              </a:rPr>
              <a:t>▶ 월간 KPI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   · 마.스.타 권유 상담  →  월 8회 이상 (소규모 교사 4회)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   · 이탈 신호 조기 상담  →  발생 48시간 내 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42032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   · 기존 회원 이탈  →  0명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63824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56DB"/>
                </a:solidFill>
              </a:rPr>
              <a:t>▶ 보고 체계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39312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   · 매주 금요일  교사 → 관리자 (신규 상담·가입·이탈 위기)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78224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   · 매월 첫째 주  전체 교사 월간 실적 리뷰 미팅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2분기 전략 1 — 마.스타 순증 +47 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※ 현황: 1분기 -4.5 → 2분기 목표 +47  (최우선 과제)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03120"/>
          <a:ext cx="1127455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월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마.스타 목표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퇴회율 목표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퇴회 수 목표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4월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+11명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5.2% 이하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81.5명↓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5월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+12명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5.7% 이하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89명↓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6월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+24명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3.8% 이하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60명↓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3035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※ 핵심 전제: 마.스타 퇴회 억제 없이는 순증 달성 불가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전략 1-① 대형 교사 집중 공략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455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10"/>
                <a:gridCol w="2254910"/>
                <a:gridCol w="2254910"/>
                <a:gridCol w="2254910"/>
                <a:gridCol w="2254912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교사명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현재 마.스타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점유율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잔여 대상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2분기 목표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김은숙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14명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13.6%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89명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6~7명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최승희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7명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61명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4~5명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원희선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4.0%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48명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3~4명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박양희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48명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3~4명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이경옥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3명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6.4%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44명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3명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572000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※ 김은숙·최승희: 잔여 대상 최다 → 2분기 순증 핵심 동력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47488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※ 원희선·박양희: 점유율 4.0% 최하위 → 진단평가 기반 전환 상담 즉시 투입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전략 1-② 우수 교사 노하우 전파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56DB"/>
                </a:solidFill>
              </a:rPr>
              <a:t>▶ 김주연 교사  (점유율 27.5% — 전체 1위)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   · 4월 교사 미팅에서 권유 화법·성공 사례 공유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   · 저점유율 교사에게 스크립트 직접 적용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24912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56DB"/>
                </a:solidFill>
              </a:rPr>
              <a:t>▶ 김은숙 교사  (마.스타 14명 — 최다 보유)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   · 대규모 회원 관리 시 권유 타이밍·노하우 공유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22192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※ 적용 대상: 원희선·박양희·이경이 (점유율 2.9~4.0% 최하위 3인)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전략 1-③④ 전환 집중 &amp; 소규모 교사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56DB"/>
                </a:solidFill>
              </a:rPr>
              <a:t>▶ ③ 스마트구몬 → 마.스타 전환 집중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   · SKN 계약 회원 중 마.스타 미가입자 교사별 목록화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   · 이경이 교사 — 점유율 2.9%, 잔여 34명 → 관리자 동행 상담 우선 투입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24912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56DB"/>
                </a:solidFill>
              </a:rPr>
              <a:t>▶ ④ 소규모 교사 — 현실적 목표 유지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   · 신인숙(잔여 13명) / 이주아(18명) / 김태연(17명)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39312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   · 2분기 각 1명 목표 / 권유 상담 월 4회 이상 이행 점검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61104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※ 전체 합계: 47명 = 대형 교사 20명 + 중형 10명 + 저점유율 전환 17명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2분기 전략 2 — 퇴회율 안정화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※ 현황: 1분기 6.0% (3월 8.8% 최고점) → 2분기 목표 4.9%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03120"/>
          <a:ext cx="1127455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월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퇴회율 목표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퇴회 수 목표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핵심 액션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4월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5.2%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81.5명↓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이탈 조기 경보 체계 구축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5월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89명↓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재약정 선제 상담 병행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6월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3.8%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60명↓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5월 말 전 회원 선제 상담 완료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3035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※ 3월 퇴회율 8.8% 재발 시 전체 목표 붕괴 — 조기 경보 체계 필수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전략 2 — 이탈 신호별 즉시 대응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4552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/>
                <a:gridCol w="5637276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이탈 신호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교사 조치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숙제 미완료 2회 연속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분량 30% 축소 → 성공 경험 후 복원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"어려워요" 반복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1단계 하향, 기초 보강 후 복귀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"그만둘까 해요"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48시간 내 전화 상담, 조정 옵션 제시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시간 조율 어려움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2개 타임슬롯 제공 또는 교사 간 교환 조율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840480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56DB"/>
                </a:solidFill>
              </a:rPr>
              <a:t>▶ 6월 집중 방어 (목표 퇴회율 3.8% — 분기 최저)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15968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   · 5월 말 전 회원 선제 상담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   · 여름방학 연계 동기부여 (학습 목표 재설정)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93792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   · 미달 위험 회원 관리자 직접 동행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2분기 전략 3 — SKN 재약정률 90.5% 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※ 현황: 1분기 73.7% (1월 50% 저점) → 2분기 목표 90.5%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03120"/>
          <a:ext cx="11274552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10"/>
                <a:gridCol w="2254910"/>
                <a:gridCol w="2254910"/>
                <a:gridCol w="2254910"/>
                <a:gridCol w="2254912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월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재약정 대상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목표 계약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목표율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4월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7명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6명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85.7%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만료 1개월 전 선 상담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5월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8명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7명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87.5%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고맙구몬 성장노트 활용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6월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6명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6명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관리자 동행 상담 필수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합계</a:t>
                      </a:r>
                    </a:p>
                  </a:txBody>
                  <a:tcPr>
                    <a:solidFill>
                      <a:srgbClr val="FFED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21명</a:t>
                      </a:r>
                    </a:p>
                  </a:txBody>
                  <a:tcPr>
                    <a:solidFill>
                      <a:srgbClr val="FFED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19명</a:t>
                      </a:r>
                    </a:p>
                  </a:txBody>
                  <a:tcPr>
                    <a:solidFill>
                      <a:srgbClr val="FFED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90.5%</a:t>
                      </a:r>
                    </a:p>
                  </a:txBody>
                  <a:tcPr>
                    <a:solidFill>
                      <a:srgbClr val="FFED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FFED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전략 3 — 재약정 실행 액션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56DB"/>
                </a:solidFill>
              </a:rPr>
              <a:t>▶ 재약정 대상 사전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   · 만료 1개월 전 교사 선 상담 완료 → 관리자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   · 고맙구몬 스티커판·성장노트로 학습 성과 가시화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42032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   · 진단평가 결과 공유로 마.스.타 연계 효과 입증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63824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56DB"/>
                </a:solidFill>
              </a:rPr>
              <a:t>▶ 6월 100% 달성 (대상 6명 전원 계약 필수)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39312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   · 관리자 직접 동행 상담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78224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   · 체험 후 관리, 외국어·나무시리즈 성과 공유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00016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※ 재약정 미달 교사 — 5월 중간 점검 시 조기 식별 및 코칭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2분기 전략 4 — 교사 순증 +4명 (31→35명)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4552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월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목표 순증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주요 방법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4월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+1명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청년교사 공고 등록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5월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+1명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기존 교사 추천 캠페인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6월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+3명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하반기 대비 집중 채용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합계</a:t>
                      </a:r>
                    </a:p>
                  </a:txBody>
                  <a:tcPr>
                    <a:solidFill>
                      <a:srgbClr val="FFED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+4명 (31→35명)</a:t>
                      </a:r>
                    </a:p>
                  </a:txBody>
                  <a:tcPr>
                    <a:solidFill>
                      <a:srgbClr val="FFED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FFEDC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56DB"/>
                </a:solidFill>
              </a:rPr>
              <a:t>▶ 청년교사제도 즉시 공고 등록 (4월)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90288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56DB"/>
                </a:solidFill>
              </a:rPr>
              <a:t>▶ 기존 교사 추천 시 인센티브 제공 (5월)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65776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56DB"/>
                </a:solidFill>
              </a:rPr>
              <a:t>▶ 6월 집중 채용 — 하반기 회원 증가 대비 선제 조직 확대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41264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※ 20과목 이하 교사 3명 → 지역 정리 및 분리 검토 병행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SKN 스마트구몬 50% 달성 분석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4552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현재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2분기 말 예상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총 회원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483명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521명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SKN 회원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231명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249명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SKN 비율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47.8%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47.7%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50% 달성 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261명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389120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※ 현재 계획 달성 시 SKN 47.7% → 50% 달성까지 12명 부족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64608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※ 50% 달성을 위한 SKN 순증 목표: +18명 → +30명으로 상향 필요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40096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※ 재약정률 90.5% 미달 시 SKN 해지 추가 발생 → 비율 더 하락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SKN 50% 달성 추가 전략 (+12명)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56DB"/>
                </a:solidFill>
              </a:rPr>
              <a:t>▶ 신규 입회 시 SKN 동시 가입 유도 (월 입회 목표의 30% 이상)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   · 4월 83명 입회 목표 중 SKN 동시 가입 25명 이상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   · 입회 상담 시 SKN 체험 패키지 기본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24912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56DB"/>
                </a:solidFill>
              </a:rPr>
              <a:t>▶ 기존 스마트구몬 미가입 회원 전환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   · 전체 미가입 대상 약 188명 중 교사별 5명 선정 → 상담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39312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   · 진단평가 결과 기반 SKN 필요성 설명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61104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56DB"/>
                </a:solidFill>
              </a:rPr>
              <a:t>▶ 재약정률 90.5% 반드시 달성 (해지 방어)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36592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   · 재약정 실패 1명 = SKN 순증 목표 1명 손실과 동일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75504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   · 만료 전 관리자 동행 상담으로 해지 최소화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2분기 월별 종합 실행 로드맵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455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10"/>
                <a:gridCol w="2254910"/>
                <a:gridCol w="2254910"/>
                <a:gridCol w="2254910"/>
                <a:gridCol w="2254912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월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전략 1 (마.스타)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전략 2 (퇴회)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전략 3 (재약정)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전략 4 (교사)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4월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전환 상담 집중</a:t>
                      </a:r>
                    </a:p>
                    <a:p>
                      <a:r>
                        <a:t>+11명 목표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조기 경보 체계</a:t>
                      </a:r>
                    </a:p>
                    <a:p>
                      <a:r>
                        <a:t>5.2% 이하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선 상담 완료</a:t>
                      </a:r>
                    </a:p>
                    <a:p>
                      <a:r>
                        <a:t>85.7% 목표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청년교사 공고</a:t>
                      </a:r>
                    </a:p>
                    <a:p>
                      <a:r>
                        <a:t>+1명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5월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권유 본격화</a:t>
                      </a:r>
                    </a:p>
                    <a:p>
                      <a:r>
                        <a:t>+12명 목표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재약정 병행</a:t>
                      </a:r>
                    </a:p>
                    <a:p>
                      <a:r>
                        <a:t>5.7% 이하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성장노트 활용</a:t>
                      </a:r>
                    </a:p>
                    <a:p>
                      <a:r>
                        <a:t>87.5% 목표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추천 캠페인</a:t>
                      </a:r>
                    </a:p>
                    <a:p>
                      <a:r>
                        <a:t>+1명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6월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상반기 스퍼트</a:t>
                      </a:r>
                    </a:p>
                    <a:p>
                      <a:r>
                        <a:t>+24명 목표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전원 선제 상담</a:t>
                      </a:r>
                    </a:p>
                    <a:p>
                      <a:r>
                        <a:t>3.8% 이하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동행 상담</a:t>
                      </a:r>
                    </a:p>
                    <a:p>
                      <a:r>
                        <a:t>100% 목표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집중 채용</a:t>
                      </a:r>
                    </a:p>
                    <a:p>
                      <a:r>
                        <a:t>+3명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성공 기준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4552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현재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3개월 목표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마.스.타 회원 수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64명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93명 이상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마.스.타 점유율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약 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월 이탈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13명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6명 이하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월 신규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10명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16명 이상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